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0" roundtripDataSignature="AMtx7mj/eqJLvJ2g9A5aFxQ8Bk9jCevWr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2596D0-4B09-B1F6-58F3-67E7D3CF685A}" v="12" dt="2026-08-20T10:37:05.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presProps" Target="presProps.xml"/><Relationship Id="rId15" Type="http://schemas.microsoft.com/office/2015/10/relationships/revisionInfo" Target="revisionInfo.xml"/><Relationship Id="rId10" Type="http://customschemas.google.com/relationships/presentationmetadata" Target="meta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1:notes"/>
          <p:cNvSpPr txBox="1">
            <a:spLocks noGrp="1"/>
          </p:cNvSpPr>
          <p:nvPr>
            <p:ph type="hdr" idx="3"/>
          </p:nvPr>
        </p:nvSpPr>
        <p:spPr>
          <a:xfrm>
            <a:off x="0" y="228600"/>
            <a:ext cx="3429000" cy="228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48"/>
              </a:buClr>
              <a:buSzPts val="1800"/>
              <a:buFont typeface="Arial"/>
              <a:buNone/>
            </a:pPr>
            <a:r>
              <a:rPr lang="en-IN" sz="1800" b="0" i="0" u="none" strike="noStrike" cap="none">
                <a:solidFill>
                  <a:srgbClr val="000048"/>
                </a:solidFill>
                <a:latin typeface="Arial"/>
                <a:ea typeface="Arial"/>
                <a:cs typeface="Arial"/>
                <a:sym typeface="Arial"/>
              </a:rPr>
              <a:t>Presentation title</a:t>
            </a:r>
            <a:endParaRPr/>
          </a:p>
        </p:txBody>
      </p:sp>
      <p:sp>
        <p:nvSpPr>
          <p:cNvPr id="395" name="Google Shape;395;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48"/>
              </a:buClr>
              <a:buSzPts val="700"/>
              <a:buFont typeface="Arial"/>
              <a:buNone/>
            </a:pPr>
            <a:r>
              <a:rPr lang="en-IN" sz="700" b="0" i="0" u="none" strike="noStrike" cap="none">
                <a:solidFill>
                  <a:srgbClr val="000048"/>
                </a:solidFill>
                <a:latin typeface="Arial"/>
                <a:ea typeface="Arial"/>
                <a:cs typeface="Arial"/>
                <a:sym typeface="Arial"/>
              </a:rPr>
              <a:t>© 2025–2027 Cognizant | Private</a:t>
            </a:r>
            <a:endParaRPr/>
          </a:p>
        </p:txBody>
      </p:sp>
      <p:sp>
        <p:nvSpPr>
          <p:cNvPr id="396" name="Google Shape;39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48"/>
              </a:buClr>
              <a:buSzPts val="700"/>
              <a:buFont typeface="Arial"/>
              <a:buNone/>
            </a:pPr>
            <a:fld id="{00000000-1234-1234-1234-123412341234}" type="slidenum">
              <a:rPr lang="en-IN" sz="700" b="0" i="0" u="none" strike="noStrike" cap="none">
                <a:solidFill>
                  <a:srgbClr val="000048"/>
                </a:solidFill>
                <a:latin typeface="Arial"/>
                <a:ea typeface="Arial"/>
                <a:cs typeface="Arial"/>
                <a:sym typeface="Arial"/>
              </a:rPr>
              <a:t>1</a:t>
            </a:fld>
            <a:endParaRPr sz="700" b="0" i="0" u="none" strike="noStrike" cap="none">
              <a:solidFill>
                <a:srgbClr val="000048"/>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vider 1 - gradient 1">
  <p:cSld name="Divider 1 - gradient 1">
    <p:bg>
      <p:bgPr>
        <a:solidFill>
          <a:schemeClr val="lt1"/>
        </a:solidFill>
        <a:effectLst/>
      </p:bgPr>
    </p:bg>
    <p:spTree>
      <p:nvGrpSpPr>
        <p:cNvPr id="1" name="Shape 16"/>
        <p:cNvGrpSpPr/>
        <p:nvPr/>
      </p:nvGrpSpPr>
      <p:grpSpPr>
        <a:xfrm>
          <a:off x="0" y="0"/>
          <a:ext cx="0" cy="0"/>
          <a:chOff x="0" y="0"/>
          <a:chExt cx="0" cy="0"/>
        </a:xfrm>
      </p:grpSpPr>
      <p:pic>
        <p:nvPicPr>
          <p:cNvPr id="17" name="Google Shape;17;p5"/>
          <p:cNvPicPr preferRelativeResize="0"/>
          <p:nvPr/>
        </p:nvPicPr>
        <p:blipFill rotWithShape="1">
          <a:blip r:embed="rId2">
            <a:alphaModFix/>
          </a:blip>
          <a:srcRect/>
          <a:stretch/>
        </p:blipFill>
        <p:spPr>
          <a:xfrm>
            <a:off x="0" y="-1"/>
            <a:ext cx="12188952" cy="6863434"/>
          </a:xfrm>
          <a:prstGeom prst="rect">
            <a:avLst/>
          </a:prstGeom>
          <a:noFill/>
          <a:ln>
            <a:noFill/>
          </a:ln>
        </p:spPr>
      </p:pic>
      <p:sp>
        <p:nvSpPr>
          <p:cNvPr id="18" name="Google Shape;18;p5"/>
          <p:cNvSpPr txBox="1">
            <a:spLocks noGrp="1"/>
          </p:cNvSpPr>
          <p:nvPr>
            <p:ph type="title"/>
          </p:nvPr>
        </p:nvSpPr>
        <p:spPr>
          <a:xfrm>
            <a:off x="1005840" y="1943100"/>
            <a:ext cx="7143750" cy="997196"/>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lt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
          <p:cNvSpPr txBox="1">
            <a:spLocks noGrp="1"/>
          </p:cNvSpPr>
          <p:nvPr>
            <p:ph type="dt" idx="10"/>
          </p:nvPr>
        </p:nvSpPr>
        <p:spPr>
          <a:xfrm>
            <a:off x="2651760" y="6400800"/>
            <a:ext cx="1371600" cy="2286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457200" y="457200"/>
            <a:ext cx="11277600" cy="332399"/>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
          <p:cNvSpPr txBox="1">
            <a:spLocks noGrp="1"/>
          </p:cNvSpPr>
          <p:nvPr>
            <p:ph type="body" idx="1"/>
          </p:nvPr>
        </p:nvSpPr>
        <p:spPr>
          <a:xfrm>
            <a:off x="457200" y="1447800"/>
            <a:ext cx="7518400" cy="4663440"/>
          </a:xfrm>
          <a:prstGeom prst="rect">
            <a:avLst/>
          </a:prstGeom>
          <a:noFill/>
          <a:ln>
            <a:noFill/>
          </a:ln>
        </p:spPr>
        <p:txBody>
          <a:bodyPr spcFirstLastPara="1" wrap="square" lIns="0" tIns="0" rIns="0" bIns="0" anchor="t" anchorCtr="0">
            <a:noAutofit/>
          </a:bodyPr>
          <a:lstStyle>
            <a:lvl1pPr marL="457200" marR="0" lvl="0" indent="-330200" algn="l" rtl="0">
              <a:lnSpc>
                <a:spcPct val="11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1pPr>
            <a:lvl2pPr marL="914400" marR="0" lvl="1" indent="-317500" algn="l" rtl="0">
              <a:lnSpc>
                <a:spcPct val="11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3pPr>
            <a:lvl4pPr marL="1828800" marR="0" lvl="3"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4pPr>
            <a:lvl5pPr marL="2286000" marR="0" lvl="4"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5pPr>
            <a:lvl6pPr marL="2743200" marR="0" lvl="5"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6pPr>
            <a:lvl7pPr marL="3200400" marR="0" lvl="6"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7pPr>
            <a:lvl8pPr marL="3657600" marR="0" lvl="7"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8pPr>
            <a:lvl9pPr marL="4114800" marR="0" lvl="8"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12" name="Google Shape;12;p3"/>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700" b="0" i="0" u="none" strike="noStrike" cap="none">
                <a:solidFill>
                  <a:schemeClr val="lt1"/>
                </a:solidFill>
                <a:latin typeface="Arial"/>
                <a:ea typeface="Arial"/>
                <a:cs typeface="Arial"/>
                <a:sym typeface="Arial"/>
              </a:defRPr>
            </a:lvl1pPr>
            <a:lvl2pPr marL="0" marR="0" lvl="1" indent="0" algn="l" rtl="0">
              <a:spcBef>
                <a:spcPts val="0"/>
              </a:spcBef>
              <a:buNone/>
              <a:defRPr sz="700" b="0" i="0" u="none" strike="noStrike" cap="none">
                <a:solidFill>
                  <a:schemeClr val="lt1"/>
                </a:solidFill>
                <a:latin typeface="Arial"/>
                <a:ea typeface="Arial"/>
                <a:cs typeface="Arial"/>
                <a:sym typeface="Arial"/>
              </a:defRPr>
            </a:lvl2pPr>
            <a:lvl3pPr marL="0" marR="0" lvl="2" indent="0" algn="l" rtl="0">
              <a:spcBef>
                <a:spcPts val="0"/>
              </a:spcBef>
              <a:buNone/>
              <a:defRPr sz="700" b="0" i="0" u="none" strike="noStrike" cap="none">
                <a:solidFill>
                  <a:schemeClr val="lt1"/>
                </a:solidFill>
                <a:latin typeface="Arial"/>
                <a:ea typeface="Arial"/>
                <a:cs typeface="Arial"/>
                <a:sym typeface="Arial"/>
              </a:defRPr>
            </a:lvl3pPr>
            <a:lvl4pPr marL="0" marR="0" lvl="3" indent="0" algn="l" rtl="0">
              <a:spcBef>
                <a:spcPts val="0"/>
              </a:spcBef>
              <a:buNone/>
              <a:defRPr sz="700" b="0" i="0" u="none" strike="noStrike" cap="none">
                <a:solidFill>
                  <a:schemeClr val="lt1"/>
                </a:solidFill>
                <a:latin typeface="Arial"/>
                <a:ea typeface="Arial"/>
                <a:cs typeface="Arial"/>
                <a:sym typeface="Arial"/>
              </a:defRPr>
            </a:lvl4pPr>
            <a:lvl5pPr marL="0" marR="0" lvl="4" indent="0" algn="l" rtl="0">
              <a:spcBef>
                <a:spcPts val="0"/>
              </a:spcBef>
              <a:buNone/>
              <a:defRPr sz="700" b="0" i="0" u="none" strike="noStrike" cap="none">
                <a:solidFill>
                  <a:schemeClr val="lt1"/>
                </a:solidFill>
                <a:latin typeface="Arial"/>
                <a:ea typeface="Arial"/>
                <a:cs typeface="Arial"/>
                <a:sym typeface="Arial"/>
              </a:defRPr>
            </a:lvl5pPr>
            <a:lvl6pPr marL="0" marR="0" lvl="5" indent="0" algn="l" rtl="0">
              <a:spcBef>
                <a:spcPts val="0"/>
              </a:spcBef>
              <a:buNone/>
              <a:defRPr sz="700" b="0" i="0" u="none" strike="noStrike" cap="none">
                <a:solidFill>
                  <a:schemeClr val="lt1"/>
                </a:solidFill>
                <a:latin typeface="Arial"/>
                <a:ea typeface="Arial"/>
                <a:cs typeface="Arial"/>
                <a:sym typeface="Arial"/>
              </a:defRPr>
            </a:lvl6pPr>
            <a:lvl7pPr marL="0" marR="0" lvl="6" indent="0" algn="l" rtl="0">
              <a:spcBef>
                <a:spcPts val="0"/>
              </a:spcBef>
              <a:buNone/>
              <a:defRPr sz="700" b="0" i="0" u="none" strike="noStrike" cap="none">
                <a:solidFill>
                  <a:schemeClr val="lt1"/>
                </a:solidFill>
                <a:latin typeface="Arial"/>
                <a:ea typeface="Arial"/>
                <a:cs typeface="Arial"/>
                <a:sym typeface="Arial"/>
              </a:defRPr>
            </a:lvl7pPr>
            <a:lvl8pPr marL="0" marR="0" lvl="7" indent="0" algn="l" rtl="0">
              <a:spcBef>
                <a:spcPts val="0"/>
              </a:spcBef>
              <a:buNone/>
              <a:defRPr sz="700" b="0" i="0" u="none" strike="noStrike" cap="none">
                <a:solidFill>
                  <a:schemeClr val="lt1"/>
                </a:solidFill>
                <a:latin typeface="Arial"/>
                <a:ea typeface="Arial"/>
                <a:cs typeface="Arial"/>
                <a:sym typeface="Arial"/>
              </a:defRPr>
            </a:lvl8pPr>
            <a:lvl9pPr marL="0" marR="0" lvl="8" indent="0" algn="l" rtl="0">
              <a:spcBef>
                <a:spcPts val="0"/>
              </a:spcBef>
              <a:buNone/>
              <a:defRPr sz="7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13" name="Google Shape;13;p3"/>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4" name="Google Shape;14;p3"/>
          <p:cNvSpPr txBox="1">
            <a:spLocks noGrp="1"/>
          </p:cNvSpPr>
          <p:nvPr>
            <p:ph type="dt" idx="10"/>
          </p:nvPr>
        </p:nvSpPr>
        <p:spPr>
          <a:xfrm>
            <a:off x="2651760" y="6400800"/>
            <a:ext cx="1371600" cy="22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5" name="Google Shape;15;p3"/>
          <p:cNvSpPr/>
          <p:nvPr/>
        </p:nvSpPr>
        <p:spPr>
          <a:xfrm>
            <a:off x="10591729" y="6454070"/>
            <a:ext cx="1170432" cy="205449"/>
          </a:xfrm>
          <a:prstGeom prst="rect">
            <a:avLst/>
          </a:prstGeom>
          <a:noFill/>
          <a:ln>
            <a:noFill/>
          </a:ln>
        </p:spPr>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288">
          <p15:clr>
            <a:srgbClr val="F26B43"/>
          </p15:clr>
        </p15:guide>
        <p15:guide id="4" pos="1472">
          <p15:clr>
            <a:srgbClr val="F26B43"/>
          </p15:clr>
        </p15:guide>
        <p15:guide id="5" pos="2656">
          <p15:clr>
            <a:srgbClr val="F26B43"/>
          </p15:clr>
        </p15:guide>
        <p15:guide id="6" pos="3840">
          <p15:clr>
            <a:srgbClr val="F26B43"/>
          </p15:clr>
        </p15:guide>
        <p15:guide id="7" pos="5024">
          <p15:clr>
            <a:srgbClr val="F26B43"/>
          </p15:clr>
        </p15:guide>
        <p15:guide id="8" pos="6208">
          <p15:clr>
            <a:srgbClr val="F26B43"/>
          </p15:clr>
        </p15:guide>
        <p15:guide id="9" pos="7392">
          <p15:clr>
            <a:srgbClr val="F26B43"/>
          </p15:clr>
        </p15:guide>
        <p15:guide id="10" orient="horz">
          <p15:clr>
            <a:srgbClr val="F26B43"/>
          </p15:clr>
        </p15:guide>
        <p15:guide id="11" orient="horz" pos="4320">
          <p15:clr>
            <a:srgbClr val="F26B43"/>
          </p15:clr>
        </p15:guide>
        <p15:guide id="12" orient="horz" pos="288">
          <p15:clr>
            <a:srgbClr val="F26B43"/>
          </p15:clr>
        </p15:guide>
        <p15:guide id="13" orient="horz" pos="912">
          <p15:clr>
            <a:srgbClr val="F26B43"/>
          </p15:clr>
        </p15:guide>
        <p15:guide id="14" orient="horz" pos="1536">
          <p15:clr>
            <a:srgbClr val="F26B43"/>
          </p15:clr>
        </p15:guide>
        <p15:guide id="15" orient="horz" pos="2160">
          <p15:clr>
            <a:srgbClr val="F26B43"/>
          </p15:clr>
        </p15:guide>
        <p15:guide id="16" orient="horz" pos="2784">
          <p15:clr>
            <a:srgbClr val="F26B43"/>
          </p15:clr>
        </p15:guide>
        <p15:guide id="17" orient="horz" pos="3408">
          <p15:clr>
            <a:srgbClr val="F26B43"/>
          </p15:clr>
        </p15:guide>
        <p15:guide id="18"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700"/>
              <a:buFont typeface="Arial"/>
              <a:buNone/>
            </a:pPr>
            <a:fld id="{00000000-1234-1234-1234-123412341234}" type="slidenum">
              <a:rPr lang="en-IN" sz="700" b="0" i="0" u="none" strike="noStrike" cap="none">
                <a:solidFill>
                  <a:srgbClr val="FFFFFF"/>
                </a:solidFill>
                <a:latin typeface="Arial"/>
                <a:ea typeface="Arial"/>
                <a:cs typeface="Arial"/>
                <a:sym typeface="Arial"/>
              </a:rPr>
              <a:t>1</a:t>
            </a:fld>
            <a:endParaRPr sz="700" b="0" i="0" u="none" strike="noStrike" cap="none">
              <a:solidFill>
                <a:srgbClr val="FFFFFF"/>
              </a:solidFill>
              <a:latin typeface="Arial"/>
              <a:ea typeface="Arial"/>
              <a:cs typeface="Arial"/>
              <a:sym typeface="Arial"/>
            </a:endParaRPr>
          </a:p>
        </p:txBody>
      </p:sp>
      <p:sp>
        <p:nvSpPr>
          <p:cNvPr id="399" name="Google Shape;399;p1"/>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700"/>
              <a:buFont typeface="Arial"/>
              <a:buNone/>
            </a:pPr>
            <a:r>
              <a:rPr lang="en-IN" sz="700" b="0" i="0" u="none" strike="noStrike" cap="none">
                <a:solidFill>
                  <a:srgbClr val="FFFFFF"/>
                </a:solidFill>
                <a:latin typeface="Arial"/>
                <a:ea typeface="Arial"/>
                <a:cs typeface="Arial"/>
                <a:sym typeface="Arial"/>
              </a:rPr>
              <a:t>© 2025–2027 Cognizant | Private</a:t>
            </a:r>
            <a:endParaRPr/>
          </a:p>
        </p:txBody>
      </p:sp>
      <p:grpSp>
        <p:nvGrpSpPr>
          <p:cNvPr id="400" name="Google Shape;400;p1"/>
          <p:cNvGrpSpPr/>
          <p:nvPr/>
        </p:nvGrpSpPr>
        <p:grpSpPr>
          <a:xfrm>
            <a:off x="373763" y="1719699"/>
            <a:ext cx="11444472" cy="4322115"/>
            <a:chOff x="4306" y="97728"/>
            <a:chExt cx="11444472" cy="4322115"/>
          </a:xfrm>
        </p:grpSpPr>
        <p:sp>
          <p:nvSpPr>
            <p:cNvPr id="401" name="Google Shape;401;p1"/>
            <p:cNvSpPr/>
            <p:nvPr/>
          </p:nvSpPr>
          <p:spPr>
            <a:xfrm>
              <a:off x="4306" y="97728"/>
              <a:ext cx="2589247" cy="698715"/>
            </a:xfrm>
            <a:prstGeom prst="rect">
              <a:avLst/>
            </a:prstGeom>
            <a:solidFill>
              <a:schemeClr val="accent4"/>
            </a:solidFill>
            <a:ln w="19050" cap="flat" cmpd="sng">
              <a:solidFill>
                <a:schemeClr val="accent4"/>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
            <p:cNvSpPr txBox="1"/>
            <p:nvPr/>
          </p:nvSpPr>
          <p:spPr>
            <a:xfrm>
              <a:off x="4306"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USE CASE &amp; DESCRIPTION</a:t>
              </a:r>
              <a:endParaRPr sz="1900" b="1" i="0" u="none" strike="noStrike" cap="none">
                <a:solidFill>
                  <a:srgbClr val="FFFFFF"/>
                </a:solidFill>
                <a:latin typeface="Calibri"/>
                <a:ea typeface="Calibri"/>
                <a:cs typeface="Calibri"/>
                <a:sym typeface="Calibri"/>
              </a:endParaRPr>
            </a:p>
          </p:txBody>
        </p:sp>
        <p:sp>
          <p:nvSpPr>
            <p:cNvPr id="403" name="Google Shape;403;p1"/>
            <p:cNvSpPr/>
            <p:nvPr/>
          </p:nvSpPr>
          <p:spPr>
            <a:xfrm>
              <a:off x="4306" y="796443"/>
              <a:ext cx="2589247" cy="3623400"/>
            </a:xfrm>
            <a:prstGeom prst="rect">
              <a:avLst/>
            </a:prstGeom>
            <a:solidFill>
              <a:srgbClr val="C8D5DD">
                <a:alpha val="90196"/>
              </a:srgbClr>
            </a:solidFill>
            <a:ln w="19050" cap="flat" cmpd="sng">
              <a:solidFill>
                <a:srgbClr val="C8D5DD">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
            <p:cNvSpPr txBox="1"/>
            <p:nvPr/>
          </p:nvSpPr>
          <p:spPr>
            <a:xfrm>
              <a:off x="4306" y="796443"/>
              <a:ext cx="2589247" cy="3623400"/>
            </a:xfrm>
            <a:prstGeom prst="rect">
              <a:avLst/>
            </a:prstGeom>
            <a:noFill/>
            <a:ln>
              <a:noFill/>
            </a:ln>
          </p:spPr>
          <p:txBody>
            <a:bodyPr spcFirstLastPara="1" wrap="square" lIns="58650" tIns="58650" rIns="78225" bIns="88000" anchor="t" anchorCtr="0">
              <a:noAutofit/>
            </a:bodyPr>
            <a:lstStyle/>
            <a:p>
              <a:pPr marL="57150" marR="0" lvl="1" indent="-57150" algn="l" rtl="0">
                <a:lnSpc>
                  <a:spcPct val="90000"/>
                </a:lnSpc>
                <a:spcBef>
                  <a:spcPts val="165"/>
                </a:spcBef>
                <a:spcAft>
                  <a:spcPts val="0"/>
                </a:spcAft>
                <a:buNone/>
              </a:pPr>
              <a:r>
                <a:rPr lang="en-IN" sz="1100" b="0" i="0" u="none" strike="noStrike" cap="none">
                  <a:solidFill>
                    <a:schemeClr val="lt1"/>
                  </a:solidFill>
                  <a:latin typeface="Arial"/>
                  <a:ea typeface="Arial"/>
                  <a:cs typeface="Arial"/>
                  <a:sym typeface="Arial"/>
                </a:rPr>
                <a:t>Developing a genai powered self service platform that allows business users to ask questions in plain english and receive real time reports, insights, and policy related data analysis. The platform will include features such as natural language to sql conversion, automated dashboard generation, data quality validation alerts, export options for reports (e.G., excel, pdf), and role based secure access. This solution aims to enable faster decision making, reduce report development effort, increase productivity for business users, optimize development resource utilization, and improve data driven operations.</a:t>
              </a:r>
            </a:p>
          </p:txBody>
        </p:sp>
        <p:sp>
          <p:nvSpPr>
            <p:cNvPr id="405" name="Google Shape;405;p1"/>
            <p:cNvSpPr/>
            <p:nvPr/>
          </p:nvSpPr>
          <p:spPr>
            <a:xfrm>
              <a:off x="2956047" y="97728"/>
              <a:ext cx="2589247" cy="698715"/>
            </a:xfrm>
            <a:prstGeom prst="rect">
              <a:avLst/>
            </a:prstGeom>
            <a:solidFill>
              <a:srgbClr val="105B97"/>
            </a:solidFill>
            <a:ln w="19050" cap="flat" cmpd="sng">
              <a:solidFill>
                <a:srgbClr val="105B97"/>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
            <p:cNvSpPr txBox="1"/>
            <p:nvPr/>
          </p:nvSpPr>
          <p:spPr>
            <a:xfrm>
              <a:off x="2956047"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SOLUTION APPROACH</a:t>
              </a:r>
              <a:endParaRPr/>
            </a:p>
          </p:txBody>
        </p:sp>
        <p:sp>
          <p:nvSpPr>
            <p:cNvPr id="407" name="Google Shape;407;p1"/>
            <p:cNvSpPr/>
            <p:nvPr/>
          </p:nvSpPr>
          <p:spPr>
            <a:xfrm>
              <a:off x="2956047" y="796443"/>
              <a:ext cx="2589247" cy="3623400"/>
            </a:xfrm>
            <a:prstGeom prst="rect">
              <a:avLst/>
            </a:prstGeom>
            <a:solidFill>
              <a:srgbClr val="C8D1DC">
                <a:alpha val="90196"/>
              </a:srgbClr>
            </a:solidFill>
            <a:ln w="19050" cap="flat" cmpd="sng">
              <a:solidFill>
                <a:srgbClr val="C8D1DC">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
            <p:cNvSpPr txBox="1"/>
            <p:nvPr/>
          </p:nvSpPr>
          <p:spPr>
            <a:xfrm>
              <a:off x="2956047" y="796443"/>
              <a:ext cx="2589247" cy="3623400"/>
            </a:xfrm>
            <a:prstGeom prst="rect">
              <a:avLst/>
            </a:prstGeom>
            <a:noFill/>
            <a:ln>
              <a:noFill/>
            </a:ln>
          </p:spPr>
          <p:txBody>
            <a:bodyPr spcFirstLastPara="1" wrap="square" lIns="58650" tIns="58650" rIns="78225" bIns="88000" anchor="t" anchorCtr="0">
              <a:noAutofit/>
            </a:bodyPr>
            <a:lstStyle/>
            <a:p>
              <a:pPr marL="57150" marR="0" lvl="1" indent="-57150" algn="l" rtl="0">
                <a:lnSpc>
                  <a:spcPct val="90000"/>
                </a:lnSpc>
                <a:spcBef>
                  <a:spcPts val="165"/>
                </a:spcBef>
                <a:spcAft>
                  <a:spcPts val="0"/>
                </a:spcAft>
                <a:buNone/>
              </a:pPr>
              <a:r>
                <a:rPr lang="en-IN" sz="1100" b="0" i="0" u="none" strike="noStrike" cap="none">
                  <a:solidFill>
                    <a:schemeClr val="lt1"/>
                  </a:solidFill>
                  <a:latin typeface="Arial"/>
                  <a:ea typeface="Arial"/>
                  <a:cs typeface="Arial"/>
                  <a:sym typeface="Arial"/>
                </a:rPr>
                <a:t/>
              </a:r>
            </a:p>
          </p:txBody>
        </p:sp>
        <p:sp>
          <p:nvSpPr>
            <p:cNvPr id="409" name="Google Shape;409;p1"/>
            <p:cNvSpPr/>
            <p:nvPr/>
          </p:nvSpPr>
          <p:spPr>
            <a:xfrm>
              <a:off x="5907789" y="97728"/>
              <a:ext cx="2589247" cy="698715"/>
            </a:xfrm>
            <a:prstGeom prst="rect">
              <a:avLst/>
            </a:prstGeom>
            <a:solidFill>
              <a:srgbClr val="1E3F93"/>
            </a:solidFill>
            <a:ln w="19050" cap="flat" cmpd="sng">
              <a:solidFill>
                <a:srgbClr val="1E3F93"/>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
            <p:cNvSpPr txBox="1"/>
            <p:nvPr/>
          </p:nvSpPr>
          <p:spPr>
            <a:xfrm>
              <a:off x="5907789"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BUSINESS BENEFIT</a:t>
              </a:r>
              <a:endParaRPr sz="1900" b="1" i="0" u="none" strike="noStrike" cap="none">
                <a:solidFill>
                  <a:srgbClr val="FFFFFF"/>
                </a:solidFill>
                <a:latin typeface="Calibri"/>
                <a:ea typeface="Calibri"/>
                <a:cs typeface="Calibri"/>
                <a:sym typeface="Calibri"/>
              </a:endParaRPr>
            </a:p>
          </p:txBody>
        </p:sp>
        <p:sp>
          <p:nvSpPr>
            <p:cNvPr id="411" name="Google Shape;411;p1"/>
            <p:cNvSpPr/>
            <p:nvPr/>
          </p:nvSpPr>
          <p:spPr>
            <a:xfrm>
              <a:off x="5907789" y="796443"/>
              <a:ext cx="2589247" cy="3623400"/>
            </a:xfrm>
            <a:prstGeom prst="rect">
              <a:avLst/>
            </a:prstGeom>
            <a:solidFill>
              <a:srgbClr val="C9CDDB">
                <a:alpha val="90196"/>
              </a:srgbClr>
            </a:solidFill>
            <a:ln w="19050" cap="flat" cmpd="sng">
              <a:solidFill>
                <a:srgbClr val="C9CDDB">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
            <p:cNvSpPr txBox="1"/>
            <p:nvPr/>
          </p:nvSpPr>
          <p:spPr>
            <a:xfrm>
              <a:off x="5907789" y="796443"/>
              <a:ext cx="2589247" cy="3623400"/>
            </a:xfrm>
            <a:prstGeom prst="rect">
              <a:avLst/>
            </a:prstGeom>
            <a:noFill/>
            <a:ln>
              <a:noFill/>
            </a:ln>
          </p:spPr>
          <p:txBody>
            <a:bodyPr spcFirstLastPara="1" wrap="square" lIns="58650" tIns="58650" rIns="78225" bIns="88000" anchor="t" anchorCtr="0">
              <a:noAutofit/>
            </a:bodyPr>
            <a:lstStyle/>
            <a:p>
              <a:pPr marL="914400" lvl="0" indent="0" algn="l" rtl="0">
                <a:lnSpc>
                  <a:spcPct val="90000"/>
                </a:lnSpc>
                <a:spcBef>
                  <a:spcPts val="165"/>
                </a:spcBef>
                <a:spcAft>
                  <a:spcPts val="0"/>
                </a:spcAft>
                <a:buNone/>
              </a:pPr>
              <a:endParaRPr lang="en-US" sz="1100" b="1">
                <a:solidFill>
                  <a:schemeClr val="lt1"/>
                </a:solidFill>
              </a:endParaRPr>
            </a:p>
            <a:p>
              <a:pPr marL="57150" marR="0" lvl="1" indent="0" algn="l" rtl="0">
                <a:lnSpc>
                  <a:spcPct val="90000"/>
                </a:lnSpc>
                <a:spcBef>
                  <a:spcPts val="165"/>
                </a:spcBef>
                <a:spcAft>
                  <a:spcPts val="0"/>
                </a:spcAft>
                <a:buClr>
                  <a:schemeClr val="lt1"/>
                </a:buClr>
                <a:buSzPts val="1100"/>
                <a:buFont typeface="Arial"/>
                <a:buNone/>
              </a:pPr>
              <a:endParaRPr sz="1100" b="0" i="0" u="none" strike="noStrike" cap="none">
                <a:solidFill>
                  <a:schemeClr val="lt1"/>
                </a:solidFill>
                <a:latin typeface="Arial"/>
                <a:ea typeface="Arial"/>
                <a:cs typeface="Arial"/>
                <a:sym typeface="Arial"/>
              </a:endParaRPr>
            </a:p>
          </p:txBody>
        </p:sp>
        <p:sp>
          <p:nvSpPr>
            <p:cNvPr id="413" name="Google Shape;413;p1"/>
            <p:cNvSpPr/>
            <p:nvPr/>
          </p:nvSpPr>
          <p:spPr>
            <a:xfrm>
              <a:off x="8859531" y="97728"/>
              <a:ext cx="2589247" cy="698715"/>
            </a:xfrm>
            <a:prstGeom prst="rect">
              <a:avLst/>
            </a:prstGeom>
            <a:solidFill>
              <a:srgbClr val="2D2F8D"/>
            </a:solidFill>
            <a:ln w="19050" cap="flat" cmpd="sng">
              <a:solidFill>
                <a:srgbClr val="2D2F8D"/>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
            <p:cNvSpPr txBox="1"/>
            <p:nvPr/>
          </p:nvSpPr>
          <p:spPr>
            <a:xfrm>
              <a:off x="8859531"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EFFORT AND COST SAVING </a:t>
              </a:r>
              <a:endParaRPr sz="1900" b="1" i="0" u="none" strike="noStrike" cap="none">
                <a:solidFill>
                  <a:srgbClr val="FFFFFF"/>
                </a:solidFill>
                <a:latin typeface="Calibri"/>
                <a:ea typeface="Calibri"/>
                <a:cs typeface="Calibri"/>
                <a:sym typeface="Calibri"/>
              </a:endParaRPr>
            </a:p>
          </p:txBody>
        </p:sp>
        <p:sp>
          <p:nvSpPr>
            <p:cNvPr id="415" name="Google Shape;415;p1"/>
            <p:cNvSpPr/>
            <p:nvPr/>
          </p:nvSpPr>
          <p:spPr>
            <a:xfrm>
              <a:off x="8859531" y="796443"/>
              <a:ext cx="2589247" cy="3623400"/>
            </a:xfrm>
            <a:prstGeom prst="rect">
              <a:avLst/>
            </a:prstGeom>
            <a:solidFill>
              <a:srgbClr val="CBCADA">
                <a:alpha val="90196"/>
              </a:srgbClr>
            </a:solidFill>
            <a:ln w="19050" cap="flat" cmpd="sng">
              <a:solidFill>
                <a:srgbClr val="CBCADA">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
            <p:cNvSpPr txBox="1"/>
            <p:nvPr/>
          </p:nvSpPr>
          <p:spPr>
            <a:xfrm>
              <a:off x="8859531" y="796443"/>
              <a:ext cx="2589247" cy="3623400"/>
            </a:xfrm>
            <a:prstGeom prst="rect">
              <a:avLst/>
            </a:prstGeom>
            <a:noFill/>
            <a:ln>
              <a:noFill/>
            </a:ln>
          </p:spPr>
          <p:txBody>
            <a:bodyPr spcFirstLastPara="1" wrap="square" lIns="58650" tIns="58650" rIns="78225" bIns="88000" anchor="t" anchorCtr="0">
              <a:noAutofit/>
            </a:bodyPr>
            <a:lstStyle/>
            <a:p>
              <a:pPr marL="114300" lvl="1" indent="-114300" algn="l" rtl="0">
                <a:lnSpc>
                  <a:spcPct val="90000"/>
                </a:lnSpc>
                <a:spcBef>
                  <a:spcPts val="165"/>
                </a:spcBef>
                <a:spcAft>
                  <a:spcPts val="0"/>
                </a:spcAft>
                <a:buClr>
                  <a:schemeClr val="lt1"/>
                </a:buClr>
                <a:buSzPts val="1400"/>
                <a:buFont typeface="Arial"/>
                <a:buNone/>
              </a:pPr>
              <a:endParaRPr lang="en-US" sz="1100" b="1" u="sng">
                <a:solidFill>
                  <a:schemeClr val="lt1"/>
                </a:solidFill>
              </a:endParaRPr>
            </a:p>
            <a:p>
              <a:pPr marL="114300" marR="0" lvl="1" indent="-114300" algn="l" rtl="0">
                <a:lnSpc>
                  <a:spcPct val="90000"/>
                </a:lnSpc>
                <a:spcBef>
                  <a:spcPts val="165"/>
                </a:spcBef>
                <a:spcAft>
                  <a:spcPts val="0"/>
                </a:spcAft>
                <a:buClr>
                  <a:schemeClr val="lt1"/>
                </a:buClr>
                <a:buSzPts val="1400"/>
                <a:buFont typeface="Arial"/>
                <a:buNone/>
              </a:pPr>
              <a:endParaRPr sz="1100" b="1" u="sng">
                <a:solidFill>
                  <a:schemeClr val="lt1"/>
                </a:solidFill>
              </a:endParaRPr>
            </a:p>
          </p:txBody>
        </p:sp>
      </p:grpSp>
      <p:sp>
        <p:nvSpPr>
          <p:cNvPr id="417" name="Google Shape;417;p1"/>
          <p:cNvSpPr txBox="1">
            <a:spLocks noGrp="1"/>
          </p:cNvSpPr>
          <p:nvPr>
            <p:ph type="title"/>
          </p:nvPr>
        </p:nvSpPr>
        <p:spPr>
          <a:xfrm>
            <a:off x="369457" y="631472"/>
            <a:ext cx="8596800" cy="387900"/>
          </a:xfrm>
          <a:prstGeom prst="rect">
            <a:avLst/>
          </a:prstGeom>
          <a:noFill/>
          <a:ln>
            <a:noFill/>
          </a:ln>
        </p:spPr>
        <p:txBody>
          <a:bodyPr spcFirstLastPara="1" wrap="square" lIns="0" tIns="0" rIns="0" bIns="0" anchor="ctr" anchorCtr="0">
            <a:spAutoFit/>
          </a:bodyPr>
          <a:lstStyle/>
          <a:p>
            <a:pPr marL="0" lvl="0" indent="0" algn="l">
              <a:lnSpc>
                <a:spcPct val="90000"/>
              </a:lnSpc>
              <a:spcBef>
                <a:spcPts val="0"/>
              </a:spcBef>
              <a:spcAft>
                <a:spcPts val="0"/>
              </a:spcAft>
              <a:buNone/>
            </a:pPr>
            <a:r>
              <a:rPr lang="en-IN" sz="2800"/>
              <a:t>1144276-Natural Language Insurance Data Query and Reporting Platform</a:t>
            </a:r>
            <a:endParaRPr lang="en-US"/>
          </a:p>
        </p:txBody>
      </p:sp>
    </p:spTree>
  </p:cSld>
  <p:clrMapOvr>
    <a:masterClrMapping/>
  </p:clrMapOvr>
</p:sld>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Cognizant_2024</vt:lpstr>
      <vt:lpstr>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Anjana Sankaranarayanan</dc:creator>
  <cp:revision>14</cp:revision>
  <dcterms:created xsi:type="dcterms:W3CDTF">2021-05-06T07:44:31Z</dcterms:created>
  <dcterms:modified xsi:type="dcterms:W3CDTF">2026-08-20T10:37:25Z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0x01010028DE5DC04741E349BABCFC6727619204</vt:lpwstr>
  </property>
</Properties>
</file>