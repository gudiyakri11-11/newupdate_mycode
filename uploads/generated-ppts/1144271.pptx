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 roundtripDataSignature="AMtx7mj/eqJLvJ2g9A5aFxQ8Bk9jCevW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96D0-4B09-B1F6-58F3-67E7D3CF685A}" v="12" dt="2026-08-20T10:37:0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notes"/>
          <p:cNvSpPr txBox="1">
            <a:spLocks noGrp="1"/>
          </p:cNvSpPr>
          <p:nvPr>
            <p:ph type="hdr" idx="3"/>
          </p:nvPr>
        </p:nvSpPr>
        <p:spPr>
          <a:xfrm>
            <a:off x="0" y="228600"/>
            <a:ext cx="34290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48"/>
              </a:buClr>
              <a:buSzPts val="1800"/>
              <a:buFont typeface="Arial"/>
              <a:buNone/>
            </a:pPr>
            <a:r>
              <a:rPr lang="en-IN" sz="1800" b="0" i="0" u="none" strike="noStrike" cap="none">
                <a:solidFill>
                  <a:srgbClr val="000048"/>
                </a:solidFill>
                <a:latin typeface="Arial"/>
                <a:ea typeface="Arial"/>
                <a:cs typeface="Arial"/>
                <a:sym typeface="Arial"/>
              </a:rPr>
              <a:t>Presentation title</a:t>
            </a:r>
            <a:endParaRPr/>
          </a:p>
        </p:txBody>
      </p:sp>
      <p:sp>
        <p:nvSpPr>
          <p:cNvPr id="395" name="Google Shape;395;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r>
              <a:rPr lang="en-IN" sz="700" b="0" i="0" u="none" strike="noStrike" cap="none">
                <a:solidFill>
                  <a:srgbClr val="000048"/>
                </a:solidFill>
                <a:latin typeface="Arial"/>
                <a:ea typeface="Arial"/>
                <a:cs typeface="Arial"/>
                <a:sym typeface="Arial"/>
              </a:rPr>
              <a:t>© 2025–2027 Cognizant | Private</a:t>
            </a:r>
            <a:endParaRPr/>
          </a:p>
        </p:txBody>
      </p:sp>
      <p:sp>
        <p:nvSpPr>
          <p:cNvPr id="396" name="Google Shape;3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fld id="{00000000-1234-1234-1234-123412341234}" type="slidenum">
              <a:rPr lang="en-IN" sz="700" b="0" i="0" u="none" strike="noStrike" cap="none">
                <a:solidFill>
                  <a:srgbClr val="000048"/>
                </a:solidFill>
                <a:latin typeface="Arial"/>
                <a:ea typeface="Arial"/>
                <a:cs typeface="Arial"/>
                <a:sym typeface="Arial"/>
              </a:rPr>
              <a:t>1</a:t>
            </a:fld>
            <a:endParaRPr sz="700" b="0" i="0" u="none" strike="noStrike" cap="none">
              <a:solidFill>
                <a:srgbClr val="000048"/>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1 - gradient 1">
  <p:cSld name="Divider 1 - gradient 1">
    <p:bg>
      <p:bgPr>
        <a:solidFill>
          <a:schemeClr val="lt1"/>
        </a:solidFill>
        <a:effectLst/>
      </p:bgPr>
    </p:bg>
    <p:spTree>
      <p:nvGrpSpPr>
        <p:cNvPr id="1" name="Shape 16"/>
        <p:cNvGrpSpPr/>
        <p:nvPr/>
      </p:nvGrpSpPr>
      <p:grpSpPr>
        <a:xfrm>
          <a:off x="0" y="0"/>
          <a:ext cx="0" cy="0"/>
          <a:chOff x="0" y="0"/>
          <a:chExt cx="0" cy="0"/>
        </a:xfrm>
      </p:grpSpPr>
      <p:pic>
        <p:nvPicPr>
          <p:cNvPr id="17" name="Google Shape;17;p5"/>
          <p:cNvPicPr preferRelativeResize="0"/>
          <p:nvPr/>
        </p:nvPicPr>
        <p:blipFill rotWithShape="1">
          <a:blip r:embed="rId2">
            <a:alphaModFix/>
          </a:blip>
          <a:srcRect/>
          <a:stretch/>
        </p:blipFill>
        <p:spPr>
          <a:xfrm>
            <a:off x="0" y="-1"/>
            <a:ext cx="12188952" cy="6863434"/>
          </a:xfrm>
          <a:prstGeom prst="rect">
            <a:avLst/>
          </a:prstGeom>
          <a:noFill/>
          <a:ln>
            <a:noFill/>
          </a:ln>
        </p:spPr>
      </p:pic>
      <p:sp>
        <p:nvSpPr>
          <p:cNvPr id="18" name="Google Shape;18;p5"/>
          <p:cNvSpPr txBox="1">
            <a:spLocks noGrp="1"/>
          </p:cNvSpPr>
          <p:nvPr>
            <p:ph type="title"/>
          </p:nvPr>
        </p:nvSpPr>
        <p:spPr>
          <a:xfrm>
            <a:off x="1005840" y="1943100"/>
            <a:ext cx="7143750" cy="9971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57200" y="457200"/>
            <a:ext cx="11277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457200" y="1447800"/>
            <a:ext cx="7518400" cy="4663440"/>
          </a:xfrm>
          <a:prstGeom prst="rect">
            <a:avLst/>
          </a:prstGeom>
          <a:noFill/>
          <a:ln>
            <a:noFill/>
          </a:ln>
        </p:spPr>
        <p:txBody>
          <a:bodyPr spcFirstLastPara="1" wrap="square" lIns="0" tIns="0" rIns="0" bIns="0" anchor="t" anchorCtr="0">
            <a:noAutofit/>
          </a:bodyPr>
          <a:lstStyle>
            <a:lvl1pPr marL="457200" marR="0" lvl="0" indent="-330200" algn="l" rtl="0">
              <a:lnSpc>
                <a:spcPct val="11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17500" algn="l" rtl="0">
              <a:lnSpc>
                <a:spcPct val="11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3pPr>
            <a:lvl4pPr marL="1828800" marR="0" lvl="3"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3" name="Google Shape;13;p3"/>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3"/>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
          <p:cNvSpPr/>
          <p:nvPr/>
        </p:nvSpPr>
        <p:spPr>
          <a:xfrm>
            <a:off x="10591729" y="6454070"/>
            <a:ext cx="1170432" cy="205449"/>
          </a:xfrm>
          <a:prstGeom prst="rect">
            <a:avLst/>
          </a:prstGeom>
          <a:noFill/>
          <a:ln>
            <a:noFill/>
          </a:ln>
        </p:spPr>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88">
          <p15:clr>
            <a:srgbClr val="F26B43"/>
          </p15:clr>
        </p15:guide>
        <p15:guide id="4" pos="1472">
          <p15:clr>
            <a:srgbClr val="F26B43"/>
          </p15:clr>
        </p15:guide>
        <p15:guide id="5" pos="2656">
          <p15:clr>
            <a:srgbClr val="F26B43"/>
          </p15:clr>
        </p15:guide>
        <p15:guide id="6" pos="3840">
          <p15:clr>
            <a:srgbClr val="F26B43"/>
          </p15:clr>
        </p15:guide>
        <p15:guide id="7" pos="5024">
          <p15:clr>
            <a:srgbClr val="F26B43"/>
          </p15:clr>
        </p15:guide>
        <p15:guide id="8" pos="6208">
          <p15:clr>
            <a:srgbClr val="F26B43"/>
          </p15:clr>
        </p15:guide>
        <p15:guide id="9" pos="7392">
          <p15:clr>
            <a:srgbClr val="F26B43"/>
          </p15:clr>
        </p15:guide>
        <p15:guide id="10" orient="horz">
          <p15:clr>
            <a:srgbClr val="F26B43"/>
          </p15:clr>
        </p15:guide>
        <p15:guide id="11" orient="horz" pos="4320">
          <p15:clr>
            <a:srgbClr val="F26B43"/>
          </p15:clr>
        </p15:guide>
        <p15:guide id="12" orient="horz" pos="288">
          <p15:clr>
            <a:srgbClr val="F26B43"/>
          </p15:clr>
        </p15:guide>
        <p15:guide id="13" orient="horz" pos="912">
          <p15:clr>
            <a:srgbClr val="F26B43"/>
          </p15:clr>
        </p15:guide>
        <p15:guide id="14" orient="horz" pos="1536">
          <p15:clr>
            <a:srgbClr val="F26B43"/>
          </p15:clr>
        </p15:guide>
        <p15:guide id="15" orient="horz" pos="2160">
          <p15:clr>
            <a:srgbClr val="F26B43"/>
          </p15:clr>
        </p15:guide>
        <p15:guide id="16" orient="horz" pos="2784">
          <p15:clr>
            <a:srgbClr val="F26B43"/>
          </p15:clr>
        </p15:guide>
        <p15:guide id="17" orient="horz" pos="3408">
          <p15:clr>
            <a:srgbClr val="F26B43"/>
          </p15:clr>
        </p15:guide>
        <p15:guide id="18"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fld id="{00000000-1234-1234-1234-123412341234}" type="slidenum">
              <a:rPr lang="en-IN" sz="700" b="0" i="0" u="none" strike="noStrike" cap="none">
                <a:solidFill>
                  <a:srgbClr val="FFFFFF"/>
                </a:solidFill>
                <a:latin typeface="Arial"/>
                <a:ea typeface="Arial"/>
                <a:cs typeface="Arial"/>
                <a:sym typeface="Arial"/>
              </a:rPr>
              <a:t>1</a:t>
            </a:fld>
            <a:endParaRPr sz="700" b="0" i="0" u="none" strike="noStrike" cap="none">
              <a:solidFill>
                <a:srgbClr val="FFFFFF"/>
              </a:solidFill>
              <a:latin typeface="Arial"/>
              <a:ea typeface="Arial"/>
              <a:cs typeface="Arial"/>
              <a:sym typeface="Arial"/>
            </a:endParaRPr>
          </a:p>
        </p:txBody>
      </p:sp>
      <p:sp>
        <p:nvSpPr>
          <p:cNvPr id="399" name="Google Shape;399;p1"/>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IN" sz="700" b="0" i="0" u="none" strike="noStrike" cap="none">
                <a:solidFill>
                  <a:srgbClr val="FFFFFF"/>
                </a:solidFill>
                <a:latin typeface="Arial"/>
                <a:ea typeface="Arial"/>
                <a:cs typeface="Arial"/>
                <a:sym typeface="Arial"/>
              </a:rPr>
              <a:t>© 2025–2027 Cognizant | Private</a:t>
            </a:r>
            <a:endParaRPr/>
          </a:p>
        </p:txBody>
      </p:sp>
      <p:grpSp>
        <p:nvGrpSpPr>
          <p:cNvPr id="400" name="Google Shape;400;p1"/>
          <p:cNvGrpSpPr/>
          <p:nvPr/>
        </p:nvGrpSpPr>
        <p:grpSpPr>
          <a:xfrm>
            <a:off x="373763" y="1719699"/>
            <a:ext cx="11444472" cy="4322115"/>
            <a:chOff x="4306" y="97728"/>
            <a:chExt cx="11444472" cy="4322115"/>
          </a:xfrm>
        </p:grpSpPr>
        <p:sp>
          <p:nvSpPr>
            <p:cNvPr id="401" name="Google Shape;401;p1"/>
            <p:cNvSpPr/>
            <p:nvPr/>
          </p:nvSpPr>
          <p:spPr>
            <a:xfrm>
              <a:off x="4306" y="97728"/>
              <a:ext cx="2589247" cy="698715"/>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
            <p:cNvSpPr txBox="1"/>
            <p:nvPr/>
          </p:nvSpPr>
          <p:spPr>
            <a:xfrm>
              <a:off x="4306"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USE CASE &amp; DESCRIPTION</a:t>
              </a:r>
              <a:endParaRPr sz="1900" b="1" i="0" u="none" strike="noStrike" cap="none">
                <a:solidFill>
                  <a:srgbClr val="FFFFFF"/>
                </a:solidFill>
                <a:latin typeface="Calibri"/>
                <a:ea typeface="Calibri"/>
                <a:cs typeface="Calibri"/>
                <a:sym typeface="Calibri"/>
              </a:endParaRPr>
            </a:p>
          </p:txBody>
        </p:sp>
        <p:sp>
          <p:nvSpPr>
            <p:cNvPr id="403" name="Google Shape;403;p1"/>
            <p:cNvSpPr/>
            <p:nvPr/>
          </p:nvSpPr>
          <p:spPr>
            <a:xfrm>
              <a:off x="4306" y="796443"/>
              <a:ext cx="2589247" cy="3623400"/>
            </a:xfrm>
            <a:prstGeom prst="rect">
              <a:avLst/>
            </a:prstGeom>
            <a:solidFill>
              <a:srgbClr val="C8D5DD">
                <a:alpha val="90196"/>
              </a:srgbClr>
            </a:solidFill>
            <a:ln w="19050" cap="flat" cmpd="sng">
              <a:solidFill>
                <a:srgbClr val="C8D5DD">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
            <p:cNvSpPr txBox="1"/>
            <p:nvPr/>
          </p:nvSpPr>
          <p:spPr>
            <a:xfrm>
              <a:off x="4306"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Develop an AI based solution that analyzes incident tickets, application logs, and historical resolutions to automatically identify probable root causes and recommend fixes.                                       Analyze ServiceNow incident tickets and application logs.Suggest likely root causes based on historical patterns.Generate resolution summaries automatically.Recommend related knowledge articles and past tickets.Create draft RCA reports for support teams.Provide a chatbot interface for quick troubleshooting assistance.Business BenefitsReduce incident resolution time by 3040.Minimize dependency on SMEs.Improve application stability.Increase operational efficiency and customer satisfaction.</a:t>
              </a:r>
            </a:p>
          </p:txBody>
        </p:sp>
        <p:sp>
          <p:nvSpPr>
            <p:cNvPr id="405" name="Google Shape;405;p1"/>
            <p:cNvSpPr/>
            <p:nvPr/>
          </p:nvSpPr>
          <p:spPr>
            <a:xfrm>
              <a:off x="2956047" y="97728"/>
              <a:ext cx="2589247" cy="698715"/>
            </a:xfrm>
            <a:prstGeom prst="rect">
              <a:avLst/>
            </a:prstGeom>
            <a:solidFill>
              <a:srgbClr val="105B97"/>
            </a:solidFill>
            <a:ln w="19050" cap="flat" cmpd="sng">
              <a:solidFill>
                <a:srgbClr val="105B97"/>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
            <p:cNvSpPr txBox="1"/>
            <p:nvPr/>
          </p:nvSpPr>
          <p:spPr>
            <a:xfrm>
              <a:off x="2956047"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SOLUTION APPROACH</a:t>
              </a:r>
              <a:endParaRPr/>
            </a:p>
          </p:txBody>
        </p:sp>
        <p:sp>
          <p:nvSpPr>
            <p:cNvPr id="407" name="Google Shape;407;p1"/>
            <p:cNvSpPr/>
            <p:nvPr/>
          </p:nvSpPr>
          <p:spPr>
            <a:xfrm>
              <a:off x="2956047" y="796443"/>
              <a:ext cx="2589247" cy="3623400"/>
            </a:xfrm>
            <a:prstGeom prst="rect">
              <a:avLst/>
            </a:prstGeom>
            <a:solidFill>
              <a:srgbClr val="C8D1DC">
                <a:alpha val="90196"/>
              </a:srgbClr>
            </a:solidFill>
            <a:ln w="19050" cap="flat" cmpd="sng">
              <a:solidFill>
                <a:srgbClr val="C8D1D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
            <p:cNvSpPr txBox="1"/>
            <p:nvPr/>
          </p:nvSpPr>
          <p:spPr>
            <a:xfrm>
              <a:off x="2956047"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
              </a:r>
            </a:p>
          </p:txBody>
        </p:sp>
        <p:sp>
          <p:nvSpPr>
            <p:cNvPr id="409" name="Google Shape;409;p1"/>
            <p:cNvSpPr/>
            <p:nvPr/>
          </p:nvSpPr>
          <p:spPr>
            <a:xfrm>
              <a:off x="5907789" y="97728"/>
              <a:ext cx="2589247" cy="698715"/>
            </a:xfrm>
            <a:prstGeom prst="rect">
              <a:avLst/>
            </a:prstGeom>
            <a:solidFill>
              <a:srgbClr val="1E3F93"/>
            </a:solidFill>
            <a:ln w="19050" cap="flat" cmpd="sng">
              <a:solidFill>
                <a:srgbClr val="1E3F93"/>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
            <p:cNvSpPr txBox="1"/>
            <p:nvPr/>
          </p:nvSpPr>
          <p:spPr>
            <a:xfrm>
              <a:off x="5907789"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BUSINESS BENEFIT</a:t>
              </a:r>
              <a:endParaRPr sz="1900" b="1" i="0" u="none" strike="noStrike" cap="none">
                <a:solidFill>
                  <a:srgbClr val="FFFFFF"/>
                </a:solidFill>
                <a:latin typeface="Calibri"/>
                <a:ea typeface="Calibri"/>
                <a:cs typeface="Calibri"/>
                <a:sym typeface="Calibri"/>
              </a:endParaRPr>
            </a:p>
          </p:txBody>
        </p:sp>
        <p:sp>
          <p:nvSpPr>
            <p:cNvPr id="411" name="Google Shape;411;p1"/>
            <p:cNvSpPr/>
            <p:nvPr/>
          </p:nvSpPr>
          <p:spPr>
            <a:xfrm>
              <a:off x="5907789" y="796443"/>
              <a:ext cx="2589247" cy="3623400"/>
            </a:xfrm>
            <a:prstGeom prst="rect">
              <a:avLst/>
            </a:prstGeom>
            <a:solidFill>
              <a:srgbClr val="C9CDDB">
                <a:alpha val="90196"/>
              </a:srgbClr>
            </a:solidFill>
            <a:ln w="19050" cap="flat" cmpd="sng">
              <a:solidFill>
                <a:srgbClr val="C9CDDB">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
            <p:cNvSpPr txBox="1"/>
            <p:nvPr/>
          </p:nvSpPr>
          <p:spPr>
            <a:xfrm>
              <a:off x="5907789" y="796443"/>
              <a:ext cx="2589247" cy="3623400"/>
            </a:xfrm>
            <a:prstGeom prst="rect">
              <a:avLst/>
            </a:prstGeom>
            <a:noFill/>
            <a:ln>
              <a:noFill/>
            </a:ln>
          </p:spPr>
          <p:txBody>
            <a:bodyPr spcFirstLastPara="1" wrap="square" lIns="58650" tIns="58650" rIns="78225" bIns="88000" anchor="t" anchorCtr="0">
              <a:noAutofit/>
            </a:bodyPr>
            <a:lstStyle/>
            <a:p>
              <a:pPr marL="914400" lvl="0" indent="0" algn="l" rtl="0">
                <a:lnSpc>
                  <a:spcPct val="90000"/>
                </a:lnSpc>
                <a:spcBef>
                  <a:spcPts val="165"/>
                </a:spcBef>
                <a:spcAft>
                  <a:spcPts val="0"/>
                </a:spcAft>
                <a:buNone/>
              </a:pPr>
              <a:endParaRPr lang="en-US" sz="1100" b="1">
                <a:solidFill>
                  <a:schemeClr val="lt1"/>
                </a:solidFill>
              </a:endParaRPr>
            </a:p>
            <a:p>
              <a:pPr marL="57150" marR="0" lvl="1" indent="0" algn="l" rtl="0">
                <a:lnSpc>
                  <a:spcPct val="90000"/>
                </a:lnSpc>
                <a:spcBef>
                  <a:spcPts val="165"/>
                </a:spcBef>
                <a:spcAft>
                  <a:spcPts val="0"/>
                </a:spcAft>
                <a:buClr>
                  <a:schemeClr val="lt1"/>
                </a:buClr>
                <a:buSzPts val="1100"/>
                <a:buFont typeface="Arial"/>
                <a:buNone/>
              </a:pPr>
              <a:endParaRPr sz="1100" b="0" i="0" u="none" strike="noStrike" cap="none">
                <a:solidFill>
                  <a:schemeClr val="lt1"/>
                </a:solidFill>
                <a:latin typeface="Arial"/>
                <a:ea typeface="Arial"/>
                <a:cs typeface="Arial"/>
                <a:sym typeface="Arial"/>
              </a:endParaRPr>
            </a:p>
          </p:txBody>
        </p:sp>
        <p:sp>
          <p:nvSpPr>
            <p:cNvPr id="413" name="Google Shape;413;p1"/>
            <p:cNvSpPr/>
            <p:nvPr/>
          </p:nvSpPr>
          <p:spPr>
            <a:xfrm>
              <a:off x="8859531" y="97728"/>
              <a:ext cx="2589247" cy="698715"/>
            </a:xfrm>
            <a:prstGeom prst="rect">
              <a:avLst/>
            </a:prstGeom>
            <a:solidFill>
              <a:srgbClr val="2D2F8D"/>
            </a:solidFill>
            <a:ln w="19050" cap="flat" cmpd="sng">
              <a:solidFill>
                <a:srgbClr val="2D2F8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
            <p:cNvSpPr txBox="1"/>
            <p:nvPr/>
          </p:nvSpPr>
          <p:spPr>
            <a:xfrm>
              <a:off x="8859531"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EFFORT AND COST SAVING </a:t>
              </a:r>
              <a:endParaRPr sz="1900" b="1" i="0" u="none" strike="noStrike" cap="none">
                <a:solidFill>
                  <a:srgbClr val="FFFFFF"/>
                </a:solidFill>
                <a:latin typeface="Calibri"/>
                <a:ea typeface="Calibri"/>
                <a:cs typeface="Calibri"/>
                <a:sym typeface="Calibri"/>
              </a:endParaRPr>
            </a:p>
          </p:txBody>
        </p:sp>
        <p:sp>
          <p:nvSpPr>
            <p:cNvPr id="415" name="Google Shape;415;p1"/>
            <p:cNvSpPr/>
            <p:nvPr/>
          </p:nvSpPr>
          <p:spPr>
            <a:xfrm>
              <a:off x="8859531" y="796443"/>
              <a:ext cx="2589247" cy="3623400"/>
            </a:xfrm>
            <a:prstGeom prst="rect">
              <a:avLst/>
            </a:prstGeom>
            <a:solidFill>
              <a:srgbClr val="CBCADA">
                <a:alpha val="90196"/>
              </a:srgbClr>
            </a:solidFill>
            <a:ln w="19050" cap="flat" cmpd="sng">
              <a:solidFill>
                <a:srgbClr val="CBC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
            <p:cNvSpPr txBox="1"/>
            <p:nvPr/>
          </p:nvSpPr>
          <p:spPr>
            <a:xfrm>
              <a:off x="8859531" y="796443"/>
              <a:ext cx="2589247" cy="3623400"/>
            </a:xfrm>
            <a:prstGeom prst="rect">
              <a:avLst/>
            </a:prstGeom>
            <a:noFill/>
            <a:ln>
              <a:noFill/>
            </a:ln>
          </p:spPr>
          <p:txBody>
            <a:bodyPr spcFirstLastPara="1" wrap="square" lIns="58650" tIns="58650" rIns="78225" bIns="88000" anchor="t" anchorCtr="0">
              <a:noAutofit/>
            </a:bodyPr>
            <a:lstStyle/>
            <a:p>
              <a:pPr marL="114300" lvl="1" indent="-114300" algn="l" rtl="0">
                <a:lnSpc>
                  <a:spcPct val="90000"/>
                </a:lnSpc>
                <a:spcBef>
                  <a:spcPts val="165"/>
                </a:spcBef>
                <a:spcAft>
                  <a:spcPts val="0"/>
                </a:spcAft>
                <a:buClr>
                  <a:schemeClr val="lt1"/>
                </a:buClr>
                <a:buSzPts val="1400"/>
                <a:buFont typeface="Arial"/>
                <a:buNone/>
              </a:pPr>
              <a:endParaRPr lang="en-US" sz="1100" b="1" u="sng">
                <a:solidFill>
                  <a:schemeClr val="lt1"/>
                </a:solidFill>
              </a:endParaRPr>
            </a:p>
            <a:p>
              <a:pPr marL="114300" marR="0" lvl="1" indent="-114300" algn="l" rtl="0">
                <a:lnSpc>
                  <a:spcPct val="90000"/>
                </a:lnSpc>
                <a:spcBef>
                  <a:spcPts val="165"/>
                </a:spcBef>
                <a:spcAft>
                  <a:spcPts val="0"/>
                </a:spcAft>
                <a:buClr>
                  <a:schemeClr val="lt1"/>
                </a:buClr>
                <a:buSzPts val="1400"/>
                <a:buFont typeface="Arial"/>
                <a:buNone/>
              </a:pPr>
              <a:endParaRPr sz="1100" b="1" u="sng">
                <a:solidFill>
                  <a:schemeClr val="lt1"/>
                </a:solidFill>
              </a:endParaRPr>
            </a:p>
          </p:txBody>
        </p:sp>
      </p:grpSp>
      <p:sp>
        <p:nvSpPr>
          <p:cNvPr id="417" name="Google Shape;417;p1"/>
          <p:cNvSpPr txBox="1">
            <a:spLocks noGrp="1"/>
          </p:cNvSpPr>
          <p:nvPr>
            <p:ph type="title"/>
          </p:nvPr>
        </p:nvSpPr>
        <p:spPr>
          <a:xfrm>
            <a:off x="369457" y="631472"/>
            <a:ext cx="8596800" cy="387900"/>
          </a:xfrm>
          <a:prstGeom prst="rect">
            <a:avLst/>
          </a:prstGeom>
          <a:noFill/>
          <a:ln>
            <a:noFill/>
          </a:ln>
        </p:spPr>
        <p:txBody>
          <a:bodyPr spcFirstLastPara="1" wrap="square" lIns="0" tIns="0" rIns="0" bIns="0" anchor="ctr" anchorCtr="0">
            <a:spAutoFit/>
          </a:bodyPr>
          <a:lstStyle/>
          <a:p>
            <a:pPr marL="0" lvl="0" indent="0" algn="l">
              <a:lnSpc>
                <a:spcPct val="90000"/>
              </a:lnSpc>
              <a:spcBef>
                <a:spcPts val="0"/>
              </a:spcBef>
              <a:spcAft>
                <a:spcPts val="0"/>
              </a:spcAft>
              <a:buNone/>
            </a:pPr>
            <a:r>
              <a:rPr lang="en-IN" sz="2800"/>
              <a:t>1144271-AIPowered Incident Root Cause Analyzer and Knowledge Assistant</a:t>
            </a:r>
            <a:endParaRPr lang="en-US"/>
          </a:p>
        </p:txBody>
      </p:sp>
    </p:spTree>
  </p:cSld>
  <p:clrMapOvr>
    <a:masterClrMapping/>
  </p:clrMapOvr>
</p:sld>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Cognizant_2024</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Anjana Sankaranarayanan</dc:creator>
  <cp:revision>14</cp:revision>
  <dcterms:created xsi:type="dcterms:W3CDTF">2021-05-06T07:44:31Z</dcterms:created>
  <dcterms:modified xsi:type="dcterms:W3CDTF">2026-08-20T10:37:25Z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0x01010028DE5DC04741E349BABCFC6727619204</vt:lpwstr>
  </property>
</Properties>
</file>